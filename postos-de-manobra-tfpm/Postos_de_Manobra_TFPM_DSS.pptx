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332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931920"/>
            <a:ext cx="4114800" cy="4114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0" y="3931920"/>
            <a:ext cx="4114800" cy="4114800"/>
          </a:xfrm>
          <a:prstGeom prst="rect">
            <a:avLst/>
          </a:prstGeom>
          <a:solidFill>
            <a:srgbClr val="07332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4206240"/>
            <a:ext cx="3566160" cy="35661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DE SEGURANÇA · DSS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Postos de Manobra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TFPM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do ROF (PGS 002722) e sua aplicação no dia a dia do Terminal Ferroviário Ponta da Madeira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219456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· Terminal Ferroviário Ponta da Madeira  |  ROF PGS 002722, Rev. 10 — Item 47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deste DSS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08792" cy="141732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10177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Alinhar todo o time operacional sobre o que é um Posto de Manobra, quem faz o quê, e quais regras do ROF garantem que trens e equipes de manobra circulem no TFPM sem colisão, atropelamento ou invasão de linha.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4F3EF"/>
          </a:solidFill>
          <a:ln w="12700">
            <a:solidFill>
              <a:srgbClr val="E3E1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5661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Posto de Manobra e suas características obrigatórias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7784" y="324612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4F3EF"/>
          </a:solidFill>
          <a:ln w="12700">
            <a:solidFill>
              <a:srgbClr val="E3E1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7824" y="35661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87824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42104" y="429768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2104" y="4709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do Controlador de Pátio, Responsável pela Manobra e Operador de trem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3246120"/>
            <a:ext cx="3453384" cy="2377440"/>
          </a:xfrm>
          <a:prstGeom prst="roundRect">
            <a:avLst>
              <a:gd name="adj" fmla="val 3077"/>
            </a:avLst>
          </a:prstGeom>
          <a:solidFill>
            <a:srgbClr val="F4F3EF"/>
          </a:solidFill>
          <a:ln w="12700">
            <a:solidFill>
              <a:srgbClr val="E3E1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5528" y="35661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5528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69808" y="429768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agir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69808" y="4709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passagem, sinais sonoros/luminosos e comunicação obrigatória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Posto de Manobra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· Item 47 — Definição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F5F5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“Posto de Manobra 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área mapeada onde se concentram as manobras e atendem aos requisitos de segurança previamente definidos.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52044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em atividade, essa área passa a ser controlada pelo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da manobra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após autorização do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controle de pátio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circulação de veículos ferroviários somente poderá ocorrer com autorização do responsável pela manobra ao operador de trem.”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635240" y="169164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REGRA-CHAVE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0" y="2240280"/>
            <a:ext cx="3291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autorização do responsável pela manobra, nenhum veículo ferroviário circula pelo Posto de Manobra ativo.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0" y="4251960"/>
            <a:ext cx="3291840" cy="0"/>
          </a:xfrm>
          <a:prstGeom prst="line">
            <a:avLst/>
          </a:prstGeom>
          <a:noFill/>
          <a:ln w="12700">
            <a:solidFill>
              <a:srgbClr val="07332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955280" y="44348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 pela supervisão do pátio, com apoio do CCP, CPIA, Via Permanente e SESMT.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envolvido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responsabilidades na operação de um Posto de Manobra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21458" cy="3931920"/>
          </a:xfrm>
          <a:prstGeom prst="roundRect">
            <a:avLst>
              <a:gd name="adj" fmla="val 2901"/>
            </a:avLst>
          </a:prstGeom>
          <a:solidFill>
            <a:srgbClr val="0B4F45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21284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2880360"/>
            <a:ext cx="2009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 de Pátio (CCP)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3703320"/>
            <a:ext cx="200939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 a ativação do Posto de Manobra, informa rotas e dá ciência de manobras nas linhas adjacentes ao operador de trem.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5858" y="1920240"/>
            <a:ext cx="2521458" cy="3931920"/>
          </a:xfrm>
          <a:prstGeom prst="roundRect">
            <a:avLst>
              <a:gd name="adj" fmla="val 2901"/>
            </a:avLst>
          </a:prstGeom>
          <a:solidFill>
            <a:srgbClr val="0F5F53"/>
          </a:solidFill>
          <a:ln/>
        </p:spPr>
      </p:sp>
      <p:sp>
        <p:nvSpPr>
          <p:cNvPr id="10" name="Shape 8"/>
          <p:cNvSpPr/>
          <p:nvPr/>
        </p:nvSpPr>
        <p:spPr>
          <a:xfrm>
            <a:off x="3691890" y="221284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369189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91890" y="2880360"/>
            <a:ext cx="2009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pela Manobra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91890" y="3703320"/>
            <a:ext cx="200939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o controle da área após autorização do CCP; libera ou não a passagem de trens pelo posto.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1636" y="1920240"/>
            <a:ext cx="2521458" cy="3931920"/>
          </a:xfrm>
          <a:prstGeom prst="roundRect">
            <a:avLst>
              <a:gd name="adj" fmla="val 2901"/>
            </a:avLst>
          </a:prstGeom>
          <a:solidFill>
            <a:srgbClr val="0B4F4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7668" y="221284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87668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87668" y="2880360"/>
            <a:ext cx="2009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 de Trem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87668" y="3703320"/>
            <a:ext cx="200939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Coteja mensagens do CCP, aciona sino/farol/buzina e só passa pelo posto com liberação confirmada.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27414" y="1920240"/>
            <a:ext cx="2521458" cy="3931920"/>
          </a:xfrm>
          <a:prstGeom prst="roundRect">
            <a:avLst>
              <a:gd name="adj" fmla="val 2901"/>
            </a:avLst>
          </a:prstGeom>
          <a:solidFill>
            <a:srgbClr val="0F5F53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3446" y="221284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283446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3446" y="2880360"/>
            <a:ext cx="2009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da Cauda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83446" y="3703320"/>
            <a:ext cx="200939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manobras em recuo, cumpre os requisitos de passagem e alerta sobre qualquer desvio.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obrigatórias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47.1 — Todo Posto de Manobra deve ter: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5798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56816"/>
            <a:ext cx="4174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definidos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41742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Estacionamento de locomotivas, composições, vagões e equipamentos, com boa visibilidade.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7356" y="182880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8524" y="215798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11" name="Text 9"/>
          <p:cNvSpPr/>
          <p:nvPr/>
        </p:nvSpPr>
        <p:spPr>
          <a:xfrm>
            <a:off x="6478524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91756" y="1956816"/>
            <a:ext cx="4174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Iluminação adequada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91756" y="2286000"/>
            <a:ext cx="41742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normas de segurança do SESMT para trabalho noturno.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57530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374136"/>
            <a:ext cx="4174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Piso demarcado nas entrevias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703320"/>
            <a:ext cx="41742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Sinalização horizontal de 0,60 m no eixo da entrevia (cores conforme comprimento — ver próximo slide).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7356" y="324612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8524" y="357530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21" name="Text 19"/>
          <p:cNvSpPr/>
          <p:nvPr/>
        </p:nvSpPr>
        <p:spPr>
          <a:xfrm>
            <a:off x="6478524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91756" y="3374136"/>
            <a:ext cx="4174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Entrevias niveladas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91756" y="3703320"/>
            <a:ext cx="41742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nivelado e brita compactada; em AMV manual, a brita cobre até o local de operação do AMV.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499262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992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⛔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4791456"/>
            <a:ext cx="4174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Barreira física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120640"/>
            <a:ext cx="41742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possível, entre a linha do pátio e a via de circulação.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Sinalização horizontal das entrevias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47.1.c — piso demarcado no eixo da entrevia, faixa de 0,60 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3EF"/>
          </a:solidFill>
          <a:ln w="12700">
            <a:solidFill>
              <a:srgbClr val="E3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Entrevia MENOR que 5 metros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63040" y="2788920"/>
            <a:ext cx="722376" cy="822960"/>
          </a:xfrm>
          <a:prstGeom prst="rect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85416" y="2788920"/>
            <a:ext cx="722376" cy="82296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2788920"/>
            <a:ext cx="722376" cy="822960"/>
          </a:xfrm>
          <a:prstGeom prst="rect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0168" y="2788920"/>
            <a:ext cx="722376" cy="82296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2544" y="2788920"/>
            <a:ext cx="722376" cy="822960"/>
          </a:xfrm>
          <a:prstGeom prst="rect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7490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 completamente vermelho)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42062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amarelas intercaladas com vermelho, na cor de atenção máxima — sinaliza distância curta de reação.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8745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3EF"/>
          </a:solidFill>
          <a:ln w="12700">
            <a:solidFill>
              <a:srgbClr val="E3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1031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Entrevia IGUAL OU MAIOR que 5 metros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86600" y="2788920"/>
            <a:ext cx="722376" cy="82296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08976" y="2788920"/>
            <a:ext cx="722376" cy="822960"/>
          </a:xfrm>
          <a:prstGeom prst="rect">
            <a:avLst/>
          </a:prstGeom>
          <a:solidFill>
            <a:srgbClr val="2B2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31352" y="2788920"/>
            <a:ext cx="722376" cy="82296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53728" y="2788920"/>
            <a:ext cx="722376" cy="822960"/>
          </a:xfrm>
          <a:prstGeom prst="rect">
            <a:avLst/>
          </a:prstGeom>
          <a:solidFill>
            <a:srgbClr val="2B2B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76104" y="2788920"/>
            <a:ext cx="722376" cy="82296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7490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 completamente amarelo)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42062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amarelas intercaladas com preto — entrevias mais longas, maior tempo de percepção.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Passagem pelo Posto — COM manobra ou atividade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47.2.a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545336"/>
            <a:ext cx="46954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informa a rota ao operador e dá ciência das manobras/atividades nas linhas adjacentes.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3076" y="1600200"/>
            <a:ext cx="365760" cy="36576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8" name="Text 6"/>
          <p:cNvSpPr/>
          <p:nvPr/>
        </p:nvSpPr>
        <p:spPr>
          <a:xfrm>
            <a:off x="632307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3428" y="1545336"/>
            <a:ext cx="46954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de trem coteja a mensagem do controlador.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3099816"/>
            <a:ext cx="46954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se aproximar do posto, o operador contata o responsável pela manobra. Sem liberação, PARA o trem antes do posto.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3076" y="3154680"/>
            <a:ext cx="365760" cy="36576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14" name="Text 12"/>
          <p:cNvSpPr/>
          <p:nvPr/>
        </p:nvSpPr>
        <p:spPr>
          <a:xfrm>
            <a:off x="6323076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3428" y="3099816"/>
            <a:ext cx="46954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pela manobra se posiciona em local seguro, fora da entrevia, e então autoriza a passagem.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365760" cy="36576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4654296"/>
            <a:ext cx="46954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aciona sino e farol baixo em toda a extensão (farol alto se baixa luminosidade).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3076" y="4709160"/>
            <a:ext cx="365760" cy="36576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20" name="Text 18"/>
          <p:cNvSpPr/>
          <p:nvPr/>
        </p:nvSpPr>
        <p:spPr>
          <a:xfrm>
            <a:off x="6323076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3428" y="4654296"/>
            <a:ext cx="46954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cessar a atividade na linha adjacente, o responsável confirma a liberação com o CCP para retomar a manobra.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Passagem pelo Posto — SEM manobra ou atividade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47.2.b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545336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dá ciência de que o trem passará sobre Postos de Manobra sem manobra ativa.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2414016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de trem coteja a mensagem do controlador.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3282696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usa farol baixo em toda a extensão do posto (farol alto em baixa luminosidade).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4151376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manobra de recuo, a cobertura da cauda cumpre os requisitos de passagem pelo posto.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908792" cy="822960"/>
          </a:xfrm>
          <a:prstGeom prst="roundRect">
            <a:avLst>
              <a:gd name="adj" fmla="val 7778"/>
            </a:avLst>
          </a:prstGeom>
          <a:solidFill>
            <a:srgbClr val="FBEAE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492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em qualquer situação: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havendo desvio, o operador (ou cobertura da cauda) deve parar o trem e informar imediatamente o Controlador de Pátio.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Manobras FORA dos Postos de Manobra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47.3 — mesmo princípio, com autonomia formalmente transferida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" y="1664208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certifica que o local está liberado pelo supervisor do pátio e interdita as linhas adjacentes necessárias.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834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pela manobra solicita a interdição dos segmentos de linha ao CCP.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078224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4005072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transfere formalmente a autonomia de circulação nas linhas adjacentes ao responsável pela manobra.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5248656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5175504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autoriza o operador a circular, informando limite de autorização, nome do responsável e complemento da rota.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84848" y="1664208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se aproximar, o operador faz acionamento curto de buzina, além de sino e farol baixo (alto em baixa luminosidade).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2907792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84848" y="2834640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contato com o responsável pela manobra, o operador para no limite autorizado pelo CCP.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4078224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84848" y="4005072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só reinicia a manobra após confirmar a interdição da linha junto ao CCP.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5248656"/>
            <a:ext cx="329184" cy="3291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84848" y="5175504"/>
            <a:ext cx="4736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Devolução do controle do posto/segmento só ocorre após certeza de que a área está segura.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de outras pessoas ao Posto de Manobra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47.4 — operação ferroviária dentro da área de controle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5798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4128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 solicitação de acesso à área de controle, com a atividade a ser feita.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7356" y="182880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9" name="Shape 7"/>
          <p:cNvSpPr/>
          <p:nvPr/>
        </p:nvSpPr>
        <p:spPr>
          <a:xfrm>
            <a:off x="6478524" y="215798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10" name="Text 8"/>
          <p:cNvSpPr/>
          <p:nvPr/>
        </p:nvSpPr>
        <p:spPr>
          <a:xfrm>
            <a:off x="6478524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91756" y="1993392"/>
            <a:ext cx="4128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e obtém anuência do controlador do pátio para permitir o acesso.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357530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410712"/>
            <a:ext cx="4128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permite pessoas no raio de ação da manobra nem nas entrevias em uso.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7356" y="324612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8524" y="357530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78524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91756" y="3410712"/>
            <a:ext cx="4128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permite que pessoas autorizadas saiam da área de controle sem autorização.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99262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992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828032"/>
            <a:ext cx="4128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término da atividade, informa o controlador do pátio.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7356" y="4663440"/>
            <a:ext cx="5271516" cy="1234440"/>
          </a:xfrm>
          <a:prstGeom prst="roundRect">
            <a:avLst>
              <a:gd name="adj" fmla="val 5185"/>
            </a:avLst>
          </a:prstGeom>
          <a:solidFill>
            <a:srgbClr val="F4F3E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8524" y="4992624"/>
            <a:ext cx="548640" cy="54864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26" name="Text 24"/>
          <p:cNvSpPr/>
          <p:nvPr/>
        </p:nvSpPr>
        <p:spPr>
          <a:xfrm>
            <a:off x="6478524" y="4992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91756" y="4828032"/>
            <a:ext cx="4128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devolve o controle do posto após a certeza de que a área está segura.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sonoros e luminosos obrigatórios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dos itens 47.2 e 47.3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0B4F45"/>
          </a:solidFill>
          <a:ln/>
        </p:spPr>
      </p:sp>
      <p:sp>
        <p:nvSpPr>
          <p:cNvPr id="5" name="Shape 3"/>
          <p:cNvSpPr/>
          <p:nvPr/>
        </p:nvSpPr>
        <p:spPr>
          <a:xfrm>
            <a:off x="1489329" y="22860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489329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2064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Acionado ao se aproximar do Posto de Manobra, em toda a sua extensão.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5858" y="192024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0F5F53"/>
          </a:solidFill>
          <a:ln/>
        </p:spPr>
      </p:sp>
      <p:sp>
        <p:nvSpPr>
          <p:cNvPr id="10" name="Shape 8"/>
          <p:cNvSpPr/>
          <p:nvPr/>
        </p:nvSpPr>
        <p:spPr>
          <a:xfrm>
            <a:off x="4285107" y="22860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285107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🔅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18738" y="3337560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Farol baixo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64458" y="3794760"/>
            <a:ext cx="2064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 a extensão do posto/segmento controlado, em condições normais de luz.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1636" y="192024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0B4F45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0885" y="22860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080885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🔆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14516" y="3337560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Farol alto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0236" y="3794760"/>
            <a:ext cx="2064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locais com baixa luminosidade, substituindo o farol baixo.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27414" y="192024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0F5F53"/>
          </a:solidFill>
          <a:ln/>
        </p:spPr>
      </p:sp>
      <p:sp>
        <p:nvSpPr>
          <p:cNvPr id="20" name="Shape 18"/>
          <p:cNvSpPr/>
          <p:nvPr/>
        </p:nvSpPr>
        <p:spPr>
          <a:xfrm>
            <a:off x="9876663" y="22860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876663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📢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210294" y="3337560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Buzina curta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56014" y="3794760"/>
            <a:ext cx="20642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 curto ao se aproximar de manobra fora do Posto de Manobra (47.3.k).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A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Ouro do Posto de Manobra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07332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81912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liberação do responsável pela manobra, o trem PARA antes do posto.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07332C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192024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581912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cotejar a mensagem do CCP — nunca presumir a rota.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07332C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52044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182112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e farol acesos em toda a extensão do posto, sempre.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0175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07332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352044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3182112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desvio: pare o trem e informe o CCP imediatamente.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07332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12064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782312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só entram na área de controle com anuência do controlador do pátio.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46177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07332C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512064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782312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do posto só é devolvido com a área comprovadamente segura.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 PGS 002722 · Item 47 · Postos de Manobra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B4F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TFPM, isso vale para todo trem, todo turno, todo pátio.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sobre a aplicação local de uma regra? Acione a supervisão do pátio, o CCP ou o SESMT antes de iniciar a manobra.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219456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 — segurança é responsabilidade de todos.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· TFPM  |  Fonte: ROF PGS 002722, Rev. 10 — 18/08/2025 — Item 47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2026-08-01T09:27:17Z</dcterms:created>
  <dcterms:modified xsi:type="dcterms:W3CDTF">2026-08-01T09:27:17Z</dcterms:modified>
</cp:coreProperties>
</file>